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70" r:id="rId6"/>
    <p:sldId id="271" r:id="rId7"/>
    <p:sldId id="272" r:id="rId8"/>
    <p:sldId id="273" r:id="rId9"/>
    <p:sldId id="269" r:id="rId10"/>
    <p:sldId id="262" r:id="rId11"/>
    <p:sldId id="277" r:id="rId12"/>
    <p:sldId id="278" r:id="rId13"/>
    <p:sldId id="281" r:id="rId14"/>
    <p:sldId id="267" r:id="rId15"/>
    <p:sldId id="268" r:id="rId16"/>
    <p:sldId id="264" r:id="rId17"/>
    <p:sldId id="274" r:id="rId18"/>
    <p:sldId id="279" r:id="rId19"/>
    <p:sldId id="275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A0A9D8-036C-E442-BE90-672ABE5E9089}" v="12" dt="2025-05-08T02:03:00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7"/>
    <p:restoredTop sz="74658"/>
  </p:normalViewPr>
  <p:slideViewPr>
    <p:cSldViewPr snapToGrid="0">
      <p:cViewPr varScale="1">
        <p:scale>
          <a:sx n="93" d="100"/>
          <a:sy n="93" d="100"/>
        </p:scale>
        <p:origin x="1776" y="200"/>
      </p:cViewPr>
      <p:guideLst/>
    </p:cSldViewPr>
  </p:slideViewPr>
  <p:notesTextViewPr>
    <p:cViewPr>
      <p:scale>
        <a:sx n="130" d="100"/>
        <a:sy n="13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zabeth Leslie Paillan" userId="07db05e4-0c6f-409d-9b7a-ec6f7b5ee042" providerId="ADAL" clId="{47A0A9D8-036C-E442-BE90-672ABE5E9089}"/>
    <pc:docChg chg="undo custSel modSld">
      <pc:chgData name="Elizabeth Leslie Paillan" userId="07db05e4-0c6f-409d-9b7a-ec6f7b5ee042" providerId="ADAL" clId="{47A0A9D8-036C-E442-BE90-672ABE5E9089}" dt="2025-05-12T12:40:06.369" v="4" actId="20577"/>
      <pc:docMkLst>
        <pc:docMk/>
      </pc:docMkLst>
      <pc:sldChg chg="modSp mod">
        <pc:chgData name="Elizabeth Leslie Paillan" userId="07db05e4-0c6f-409d-9b7a-ec6f7b5ee042" providerId="ADAL" clId="{47A0A9D8-036C-E442-BE90-672ABE5E9089}" dt="2025-05-12T12:40:06.369" v="4" actId="20577"/>
        <pc:sldMkLst>
          <pc:docMk/>
          <pc:sldMk cId="3929105447" sldId="260"/>
        </pc:sldMkLst>
        <pc:spChg chg="mod">
          <ac:chgData name="Elizabeth Leslie Paillan" userId="07db05e4-0c6f-409d-9b7a-ec6f7b5ee042" providerId="ADAL" clId="{47A0A9D8-036C-E442-BE90-672ABE5E9089}" dt="2025-05-12T12:40:06.369" v="4" actId="20577"/>
          <ac:spMkLst>
            <pc:docMk/>
            <pc:sldMk cId="3929105447" sldId="260"/>
            <ac:spMk id="2" creationId="{7BF3E9DD-8ACA-D2BF-9EF3-C10BD9D9947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C7991-8096-204F-9EE1-32D7F76351E8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6B396-57DB-6648-A016-D109C0072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704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Currently working on a project on MATRIX analyzing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16S &amp; ITS matrices of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Hilliard wheat compartments that was sampled at the same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At three growth stages across 7 sites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 have metadata of plant weight, height, yield, and soil &amp; leaf element composition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3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As </a:t>
            </a:r>
            <a:r>
              <a:rPr lang="en-US" dirty="0" err="1"/>
              <a:t>i’ve</a:t>
            </a:r>
            <a:r>
              <a:rPr lang="en-US" dirty="0"/>
              <a:t> been working through this some questions </a:t>
            </a:r>
            <a:r>
              <a:rPr lang="en-US" dirty="0" err="1"/>
              <a:t>i’ve</a:t>
            </a:r>
            <a:r>
              <a:rPr lang="en-US" dirty="0"/>
              <a:t> been considering pursuing are these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 will be going through my hypotheses for these questions, proposed analysis,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if you guys have any thoughts please chime in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752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experiment </a:t>
            </a:r>
            <a:r>
              <a:rPr lang="en-US" dirty="0" err="1"/>
              <a:t>i’ve</a:t>
            </a:r>
            <a:r>
              <a:rPr lang="en-US" dirty="0"/>
              <a:t> been designing </a:t>
            </a:r>
            <a:r>
              <a:rPr lang="en-US" dirty="0" err="1"/>
              <a:t>i</a:t>
            </a:r>
            <a:r>
              <a:rPr lang="en-US" dirty="0"/>
              <a:t> would be testing if </a:t>
            </a:r>
            <a:r>
              <a:rPr lang="en-US" dirty="0" err="1"/>
              <a:t>theres</a:t>
            </a:r>
            <a:r>
              <a:rPr lang="en-US" dirty="0"/>
              <a:t> a stress memory in microbial communities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We know plants can create legacy effects in shared soil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that these effects can influence plant physiology traits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a gap </a:t>
            </a:r>
            <a:r>
              <a:rPr lang="en-US" dirty="0" err="1"/>
              <a:t>i’ve</a:t>
            </a:r>
            <a:r>
              <a:rPr lang="en-US" dirty="0"/>
              <a:t> run into is that experiments looking into cross-plant microbiomes use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Single plant species, or multiple plant species being swapped across soils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Single instance of acute drought stress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Or prolonged drought stress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898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 pre-print from Nicole </a:t>
            </a:r>
            <a:r>
              <a:rPr lang="en-US" dirty="0" err="1"/>
              <a:t>Ginnan</a:t>
            </a:r>
            <a:r>
              <a:rPr lang="en-US" dirty="0"/>
              <a:t>, they looked into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microbial drought legacy effects manifests plant response to drought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While using </a:t>
            </a:r>
            <a:r>
              <a:rPr lang="en-US" dirty="0" err="1"/>
              <a:t>gamagrass</a:t>
            </a:r>
            <a:r>
              <a:rPr lang="en-US" dirty="0"/>
              <a:t> planted in soil from different drought histories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In C) , they identified enrichment patterns of the microbial inhabitants compared to the baselines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And in E) , they show that soil legacy does separate SNP variance of drought legacy markers </a:t>
            </a:r>
          </a:p>
          <a:p>
            <a:pPr marL="1085850" lvl="2" indent="-171450">
              <a:buFont typeface="Arial" panose="020B0604020202020204" pitchFamily="34" charset="0"/>
              <a:buChar char="•"/>
            </a:pPr>
            <a:r>
              <a:rPr lang="en-US" dirty="0"/>
              <a:t>X- axis is explaining more variance and </a:t>
            </a:r>
            <a:r>
              <a:rPr lang="en-US" dirty="0" err="1"/>
              <a:t>seperation</a:t>
            </a:r>
            <a:r>
              <a:rPr lang="en-US" dirty="0"/>
              <a:t>: wet vs dry legacy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02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 a successive passaging experiment with </a:t>
            </a:r>
            <a:r>
              <a:rPr lang="en-US" dirty="0" err="1"/>
              <a:t>inocula</a:t>
            </a:r>
            <a:r>
              <a:rPr lang="en-US" dirty="0"/>
              <a:t> from the tomato </a:t>
            </a:r>
            <a:r>
              <a:rPr lang="en-US" dirty="0" err="1"/>
              <a:t>phylosphere</a:t>
            </a: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They inoculated 5 tomato plant genotypes in 4 successive rounds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51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3FB4B-0A4E-86DD-06CC-A47F11984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9AC83B-35C1-01E2-56DD-7C5E2AD22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F8029-050A-CD19-0613-D1F3F80D1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To find: Microbiome selection from a well-adapted host and environment can occur,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but that the host influence decreases overtime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 &amp; D) Uses richness and </a:t>
            </a:r>
            <a:r>
              <a:rPr lang="en-US" dirty="0" err="1"/>
              <a:t>shannon’s</a:t>
            </a:r>
            <a:r>
              <a:rPr lang="en-US" dirty="0"/>
              <a:t> alpha diversity to display through progression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Richness decreases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Alpha-diversity decreases (variety within a species)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dirty="0"/>
              <a:t>E) Composition is different from the first plant to the fourth!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52D45-656C-2BC6-74C3-BF59A0CDB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2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 experiment I’m thinking of evaluates both of those effects in a crop-rotation context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45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E5AE65-6204-7641-96A0-1A808FD3E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863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These are the questions </a:t>
            </a:r>
            <a:r>
              <a:rPr lang="en-US" dirty="0" err="1"/>
              <a:t>i’m</a:t>
            </a:r>
            <a:r>
              <a:rPr lang="en-US" dirty="0"/>
              <a:t> looking to pursue, and like before chime in with any like suggestions 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64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Read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H1: Drought-adapted soil will exhibit greater stress relief through drought recurrence than drought-naive soils.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Permanova</a:t>
            </a:r>
            <a:r>
              <a:rPr lang="en-US" dirty="0"/>
              <a:t> – tests if soil legacy explains microbiome composition variance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Using </a:t>
            </a:r>
            <a:r>
              <a:rPr lang="en-US" dirty="0" err="1"/>
              <a:t>PCoA</a:t>
            </a:r>
            <a:r>
              <a:rPr lang="en-US" dirty="0"/>
              <a:t> to visualize data points based on soil legacy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84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Read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H1: Set of drought-adapted microbes will dominate across the rounds of drought that are independent of host identity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Rank abundance curve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Differential abundance  - find ASV </a:t>
            </a:r>
            <a:r>
              <a:rPr lang="en-US" dirty="0" err="1"/>
              <a:t>enirched</a:t>
            </a:r>
            <a:r>
              <a:rPr lang="en-US" dirty="0"/>
              <a:t> in drought vs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22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Read question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H1: Host-specific microbial interaction will carry the magnitude of drought mediation, but will still confer a level of stress in both.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ANOVA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Tukey HSD –  would it still be valid if the sample sizes were inequal???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Network? – link microbes to plant traits?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26B396-57DB-6648-A016-D109C0072D3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10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63962-66C4-E768-C669-BD3121438E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51459-3F83-DB29-6BAB-A196B7BD3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DEF67-0B53-B0D8-CFA6-ED2F2A34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D8299-5236-70DB-EF45-6116F5CD5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F6B23-0B89-E50D-1FF8-DC501366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24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17659F6-A49B-DB74-09B8-1492B70B887D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555941-B4B8-DE08-EC16-C7CB02443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2733B-54C5-C68E-5FDB-8FA5F8148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2887B-A0A1-0614-7DA8-BFF68BBD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496EA-D871-BBE8-FBB1-0F39E4870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86454-6082-E315-561D-C1708D62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66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C1E6-BF0B-3A39-002D-E76C37A8B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B90CC-85B0-38DA-9445-91E4AEFEA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064ACD-70AB-D410-2BC6-0791D022C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11DA8-6E31-4B2B-57CF-867FDBF2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31A6-847A-1F23-C5B7-EB408FC65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4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BBBD79B-AD0A-B0A7-402D-8D21D236AEC1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2DD9EF-3AC6-AB04-BB31-A4B4CD3E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A3EDA-68DB-0C3D-11AA-25F26842C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92211E-0308-BD81-ECC1-366D634A2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2E7530-E3A5-D420-3B64-22C4EBCE2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C218-66A0-1CF5-6B82-C1ECEB1B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4E9D4-C6F2-A3A6-07B2-D04592B47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03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723B6C-5F84-1A1D-725C-2ECA22A37B56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D60299-A214-905E-12D5-FCFB51131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69AF5E-F4F6-3F84-E62C-DD8035A46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EC2F5A-9C69-A1BA-C84B-731ECC117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070582-0F21-5754-F8FB-0DB57CD16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2F1469-632C-7E6D-FB4C-7380F2397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2B8F9-7DF7-4A52-8A9E-B873ABAC6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7125C-643F-9763-A995-6D4066A0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28EB2-CA7C-EFD4-235C-5D8B61C18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13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3598CD-846B-BA6B-C51C-C8400532BC78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0DB41-E4A0-311F-C566-C708A30B6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5B4122-9A4F-9BC0-CF21-E9B5B7A16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20216-25E1-F12B-0E78-0F424598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0AB6D-79A0-3424-5E64-CB81870B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80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D6091C-6F23-6A8C-617A-B44F29E99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E86245-CD27-14A9-12DE-EB7DEC144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2384-70B9-87D5-D27D-63CEAC66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705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F7299-B241-B28A-487B-9497FA2BD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49C62-B9E9-E978-950E-C54B0DAF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2DFECF-1A96-170C-4774-79FBB35E6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30703-6F6A-0D40-7B8F-5BA5B8B8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269D7-9CFA-A2DE-74BF-F645BBC27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6DD2F-5FD9-8E49-57D6-43AC08267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447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53A73-4C49-8F43-EC15-856A0506F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05E879-876D-76B1-4051-D744C2251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99DC82-0A16-C076-25A3-75C8E659D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2D6CB1-9124-B98B-8D22-9F685DE1E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E6A88-F1DA-85B1-CD42-20E07C40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E1167A-8A6F-4886-95F5-97B03B0E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39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66A623-F3E1-E447-9EFD-2E761BC03E92}"/>
              </a:ext>
            </a:extLst>
          </p:cNvPr>
          <p:cNvSpPr/>
          <p:nvPr/>
        </p:nvSpPr>
        <p:spPr>
          <a:xfrm>
            <a:off x="0" y="0"/>
            <a:ext cx="12192000" cy="18256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952391-595E-E040-1E6F-959C0398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603D2E-4D1A-DF9A-CCAA-A5C84697F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7769D-69D7-C742-F549-1F9C96AC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6F090-07B1-CB44-EC46-0C9526DD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E0A3B-F45B-8FCF-17C1-72109961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1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0A2BA6-833A-9A36-EFD6-54FB0E042E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0AE42-14F8-A71B-A54A-C1FF6A055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2311C-6CF7-6D2F-F786-DAB882215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7E08A-1469-ED4D-CE4C-4A032784D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951C-9A5E-B6DF-6342-FF25305FC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75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105F7-4946-8143-E0CB-15C89807B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34D93-CFE2-1827-4497-0CF288CCE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52E90-9C3E-DAA5-113B-80D9F03FC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9882B-3821-B049-88B8-4681B08B59AA}" type="datetimeFigureOut">
              <a:rPr lang="en-US" smtClean="0"/>
              <a:t>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B5D10-0D2E-DA3B-F4B4-0177AC428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A54D5-A62D-481C-B9AE-F27AD0C08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F6C30-D7B3-CD47-B600-1CBB95F6F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033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02F8C-4108-78C5-4B99-6A08305E75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r"/>
            <a:r>
              <a:rPr lang="en-US" sz="5400" dirty="0"/>
              <a:t>Lab Meeting </a:t>
            </a:r>
            <a:br>
              <a:rPr lang="en-US" sz="5400" dirty="0"/>
            </a:br>
            <a:r>
              <a:rPr lang="en-US" sz="5400" dirty="0"/>
              <a:t>Thursday, May 8, 2025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8D71E-F96C-AF72-98FB-C0459D0204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dirty="0"/>
              <a:t>Elizabeth Paillan</a:t>
            </a:r>
          </a:p>
        </p:txBody>
      </p:sp>
    </p:spTree>
    <p:extLst>
      <p:ext uri="{BB962C8B-B14F-4D97-AF65-F5344CB8AC3E}">
        <p14:creationId xmlns:p14="http://schemas.microsoft.com/office/powerpoint/2010/main" val="1571315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CC208-9BC4-39F4-9681-AE130C52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3D997-943A-9F18-4824-7FC5F2DB6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553"/>
            <a:ext cx="10515600" cy="3973409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4000" dirty="0"/>
              <a:t>Matrix-Interact</a:t>
            </a:r>
          </a:p>
          <a:p>
            <a:pPr marL="571500" indent="-571500">
              <a:buFont typeface="+mj-lt"/>
              <a:buAutoNum type="romanUcPeriod"/>
            </a:pPr>
            <a:endParaRPr lang="en-US" sz="4000" dirty="0"/>
          </a:p>
          <a:p>
            <a:pPr marL="571500" indent="-571500">
              <a:buFont typeface="+mj-lt"/>
              <a:buAutoNum type="romanUcPeriod"/>
            </a:pPr>
            <a:r>
              <a:rPr lang="en-US" sz="4000" dirty="0">
                <a:solidFill>
                  <a:schemeClr val="bg2">
                    <a:lumMod val="75000"/>
                  </a:schemeClr>
                </a:solidFill>
              </a:rPr>
              <a:t>Persistence Project</a:t>
            </a:r>
          </a:p>
        </p:txBody>
      </p:sp>
    </p:spTree>
    <p:extLst>
      <p:ext uri="{BB962C8B-B14F-4D97-AF65-F5344CB8AC3E}">
        <p14:creationId xmlns:p14="http://schemas.microsoft.com/office/powerpoint/2010/main" val="2164977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C9518-7868-A775-7451-39984F217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Matrix-Interact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15A9D-572C-B3A4-7781-009209C37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8499"/>
            <a:ext cx="10515600" cy="4673601"/>
          </a:xfrm>
        </p:spPr>
        <p:txBody>
          <a:bodyPr>
            <a:normAutofit/>
          </a:bodyPr>
          <a:lstStyle/>
          <a:p>
            <a:r>
              <a:rPr lang="en-US" dirty="0"/>
              <a:t>Sampling</a:t>
            </a:r>
          </a:p>
          <a:p>
            <a:pPr lvl="1"/>
            <a:r>
              <a:rPr lang="en-US" dirty="0"/>
              <a:t>Hilliard wheat compartments: Leaves, roots &amp; rhizosphere</a:t>
            </a:r>
          </a:p>
          <a:p>
            <a:pPr lvl="1"/>
            <a:r>
              <a:rPr lang="en-US" dirty="0"/>
              <a:t>16S &amp; ITS</a:t>
            </a:r>
          </a:p>
          <a:p>
            <a:pPr lvl="1"/>
            <a:r>
              <a:rPr lang="en-US" dirty="0"/>
              <a:t>3 growth stages – Seedling, heading, &amp; jointing</a:t>
            </a:r>
          </a:p>
          <a:p>
            <a:pPr lvl="1"/>
            <a:r>
              <a:rPr lang="en-US" dirty="0"/>
              <a:t>7 sites </a:t>
            </a:r>
          </a:p>
          <a:p>
            <a:r>
              <a:rPr lang="en-US" dirty="0"/>
              <a:t>Metadata:</a:t>
            </a:r>
          </a:p>
          <a:p>
            <a:pPr lvl="1"/>
            <a:r>
              <a:rPr lang="en-US" dirty="0"/>
              <a:t>Plant weight, height, &amp; yield</a:t>
            </a:r>
          </a:p>
          <a:p>
            <a:pPr lvl="1"/>
            <a:r>
              <a:rPr lang="en-US" dirty="0"/>
              <a:t>Leaf N, P, K, Ca, Mg, S, Fe, Mn, Zn, Cu, B, Na, Al</a:t>
            </a:r>
          </a:p>
          <a:p>
            <a:pPr lvl="1"/>
            <a:r>
              <a:rPr lang="en-US" dirty="0"/>
              <a:t>Soil pH, P, K, Ca, Mg, S, Mn, Zn, Cu, Na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52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E9DD-8ACA-D2BF-9EF3-C10BD9D99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b="1" dirty="0"/>
              <a:t>How do bacterial &amp; fungal communities shift at different wheat phenological stages?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7BFB02-24E2-67A6-9D5D-F7A02963B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3545"/>
            <a:ext cx="10515600" cy="4509330"/>
          </a:xfrm>
        </p:spPr>
        <p:txBody>
          <a:bodyPr>
            <a:normAutofit/>
          </a:bodyPr>
          <a:lstStyle/>
          <a:p>
            <a:r>
              <a:rPr lang="en-US" dirty="0"/>
              <a:t>Do changes in the wheat microbiome across compartments correlate with transitions between phenological stages?</a:t>
            </a:r>
          </a:p>
          <a:p>
            <a:r>
              <a:rPr lang="en-US" dirty="0"/>
              <a:t>Can changes in microbiome compositions across developmental stages be modeled?</a:t>
            </a:r>
          </a:p>
          <a:p>
            <a:r>
              <a:rPr lang="en-US" dirty="0"/>
              <a:t>Are specific microbes associated with different stages of plant growth?</a:t>
            </a:r>
          </a:p>
          <a:p>
            <a:r>
              <a:rPr lang="en-US" dirty="0"/>
              <a:t>Are there stages in wheat growth correlated with shifts in its microbiome that can predict yield?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05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A296-2318-B44A-82AF-4706A8AE3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changes in the wheat microbiome across compartments correlate with transitions between phenological stages?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E568-97BB-5D03-C36B-73032C180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Microbiome composition in all compartments will show stage-specific shifts at phenological transition.</a:t>
            </a:r>
          </a:p>
          <a:p>
            <a:r>
              <a:rPr lang="en-US" dirty="0"/>
              <a:t>H2: A set of microbes will be associated with the same phenological stage across sits despite environmental differences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Proposed Analysis:</a:t>
            </a:r>
          </a:p>
          <a:p>
            <a:pPr lvl="1"/>
            <a:r>
              <a:rPr lang="en-US" dirty="0"/>
              <a:t>PERMANOVA</a:t>
            </a:r>
          </a:p>
          <a:p>
            <a:pPr lvl="1"/>
            <a:r>
              <a:rPr lang="en-US" dirty="0"/>
              <a:t>Differential Abundance</a:t>
            </a:r>
          </a:p>
        </p:txBody>
      </p:sp>
    </p:spTree>
    <p:extLst>
      <p:ext uri="{BB962C8B-B14F-4D97-AF65-F5344CB8AC3E}">
        <p14:creationId xmlns:p14="http://schemas.microsoft.com/office/powerpoint/2010/main" val="1126643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F4EFE-2740-5FB3-E0FC-9E92E4038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5AC7-7ACF-F0DE-E09F-8E8F3A533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changes in microbiome compositions across developmental stages be modeled?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882AD-80A8-DF3A-C9F8-AB2FF7530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Microbiome composition could follow a stage-dependent succession pattern that can be modeled</a:t>
            </a:r>
          </a:p>
          <a:p>
            <a:pPr lvl="1"/>
            <a:r>
              <a:rPr lang="en-US" dirty="0"/>
              <a:t>H1a: There would be a temporal decay in the accuracy of models</a:t>
            </a:r>
          </a:p>
          <a:p>
            <a:r>
              <a:rPr lang="en-US" dirty="0"/>
              <a:t>Proposed analysis:</a:t>
            </a:r>
          </a:p>
          <a:p>
            <a:pPr lvl="1"/>
            <a:r>
              <a:rPr lang="en-US" dirty="0"/>
              <a:t>Model inference</a:t>
            </a:r>
          </a:p>
          <a:p>
            <a:pPr lvl="1"/>
            <a:r>
              <a:rPr lang="en-US" dirty="0"/>
              <a:t>LASSO</a:t>
            </a:r>
          </a:p>
          <a:p>
            <a:pPr lvl="1"/>
            <a:r>
              <a:rPr lang="en-US" dirty="0"/>
              <a:t>Beta-diversity </a:t>
            </a:r>
          </a:p>
        </p:txBody>
      </p:sp>
    </p:spTree>
    <p:extLst>
      <p:ext uri="{BB962C8B-B14F-4D97-AF65-F5344CB8AC3E}">
        <p14:creationId xmlns:p14="http://schemas.microsoft.com/office/powerpoint/2010/main" val="1358574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F55A7-69EC-300F-3442-BCEC5350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68FE-DD1D-65E6-7FCC-FB37E005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 specific microbes associated with different stages of plant growth?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30321-1A3C-4DB2-86D2-30A2E1D02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Enriched microbes at distinct stages create stage-dependent niches.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Proposed analysis:</a:t>
            </a:r>
          </a:p>
          <a:p>
            <a:pPr lvl="1"/>
            <a:r>
              <a:rPr lang="en-US" dirty="0"/>
              <a:t>Modelling method?</a:t>
            </a:r>
          </a:p>
          <a:p>
            <a:pPr lvl="1"/>
            <a:r>
              <a:rPr lang="en-US" dirty="0"/>
              <a:t>Differential Abundance</a:t>
            </a:r>
          </a:p>
          <a:p>
            <a:pPr lvl="1"/>
            <a:r>
              <a:rPr lang="en-US" dirty="0"/>
              <a:t>Compartment comparison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44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98728-FA4E-CAC3-21EC-EF6A840D8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A67F0-0361-1982-22D3-A4FD907CA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there stages in wheat growth correlated with shifts in its microbiome that can predict yield?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A040-7755-F2F1-6D81-DE7ED4784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Microbiome shifts towards later phenological stages will be more predictive of final yield.</a:t>
            </a:r>
          </a:p>
          <a:p>
            <a:endParaRPr lang="en-US" dirty="0"/>
          </a:p>
          <a:p>
            <a:r>
              <a:rPr lang="en-US" dirty="0"/>
              <a:t>Proposed analysis:</a:t>
            </a:r>
          </a:p>
          <a:p>
            <a:pPr lvl="1"/>
            <a:r>
              <a:rPr lang="en-US" dirty="0"/>
              <a:t>Differential Abundance</a:t>
            </a:r>
          </a:p>
          <a:p>
            <a:pPr lvl="1"/>
            <a:r>
              <a:rPr lang="en-US" dirty="0"/>
              <a:t>Indicator species analysis</a:t>
            </a:r>
          </a:p>
          <a:p>
            <a:pPr lvl="1"/>
            <a:r>
              <a:rPr lang="en-US" dirty="0"/>
              <a:t>Log-fold change between stages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57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17F6-C97B-ADAD-F329-A20BD7F1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0B80-43DB-A22A-FF1B-C013F5D4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ADD5E-ACC4-CC2C-4210-1E11B8E1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3553"/>
            <a:ext cx="10515600" cy="3973409"/>
          </a:xfrm>
        </p:spPr>
        <p:txBody>
          <a:bodyPr>
            <a:normAutofit/>
          </a:bodyPr>
          <a:lstStyle/>
          <a:p>
            <a:pPr marL="571500" indent="-571500">
              <a:buFont typeface="+mj-lt"/>
              <a:buAutoNum type="romanUcPeriod"/>
            </a:pPr>
            <a:r>
              <a:rPr lang="en-US" sz="4000" dirty="0">
                <a:solidFill>
                  <a:schemeClr val="bg2">
                    <a:lumMod val="75000"/>
                  </a:schemeClr>
                </a:solidFill>
              </a:rPr>
              <a:t>Matrix-Interact</a:t>
            </a:r>
          </a:p>
          <a:p>
            <a:pPr marL="571500" indent="-571500">
              <a:buFont typeface="+mj-lt"/>
              <a:buAutoNum type="romanUcPeriod"/>
            </a:pPr>
            <a:endParaRPr lang="en-US" sz="4000" dirty="0"/>
          </a:p>
          <a:p>
            <a:pPr marL="571500" indent="-571500">
              <a:buFont typeface="+mj-lt"/>
              <a:buAutoNum type="romanUcPeriod"/>
            </a:pPr>
            <a:r>
              <a:rPr lang="en-US" sz="4000" dirty="0"/>
              <a:t>Persistence Project</a:t>
            </a:r>
          </a:p>
        </p:txBody>
      </p:sp>
    </p:spTree>
    <p:extLst>
      <p:ext uri="{BB962C8B-B14F-4D97-AF65-F5344CB8AC3E}">
        <p14:creationId xmlns:p14="http://schemas.microsoft.com/office/powerpoint/2010/main" val="246107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F720E-CEED-2558-BDEC-14DACE2F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Plants influence their microbiome under stress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52F28-2C27-C181-6686-FA90FD2C4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9299"/>
            <a:ext cx="10515600" cy="44735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influence can create legacy effects affecting other plants inhabiting the same soil</a:t>
            </a:r>
          </a:p>
          <a:p>
            <a:r>
              <a:rPr lang="en-US" dirty="0"/>
              <a:t>Legacy effects in soil microbiota can influence traits like root morphology and biomass production</a:t>
            </a:r>
          </a:p>
          <a:p>
            <a:r>
              <a:rPr lang="en-US" dirty="0"/>
              <a:t>However, most studies either focus on </a:t>
            </a:r>
          </a:p>
          <a:p>
            <a:pPr lvl="1"/>
            <a:r>
              <a:rPr lang="en-US" dirty="0"/>
              <a:t>Single plant species or the swapping of two or more plant species</a:t>
            </a:r>
          </a:p>
          <a:p>
            <a:pPr lvl="1"/>
            <a:r>
              <a:rPr lang="en-US" dirty="0"/>
              <a:t>Single acute or prolonged drought stress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r>
              <a:rPr lang="en-US" dirty="0"/>
              <a:t>Is there a “stress memory” in microbial communities?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94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15FCD-3587-B85F-024F-A356B363349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-331787"/>
            <a:ext cx="10515600" cy="1325563"/>
          </a:xfrm>
        </p:spPr>
        <p:txBody>
          <a:bodyPr/>
          <a:lstStyle/>
          <a:p>
            <a:r>
              <a:rPr lang="en-US" dirty="0"/>
              <a:t>Soil Legacy Effects</a:t>
            </a:r>
          </a:p>
        </p:txBody>
      </p:sp>
      <p:pic>
        <p:nvPicPr>
          <p:cNvPr id="6" name="Content Placeholder 5" descr="A diagram of different types of cells&#10;&#10;AI-generated content may be incorrect.">
            <a:extLst>
              <a:ext uri="{FF2B5EF4-FFF2-40B4-BE49-F238E27FC236}">
                <a16:creationId xmlns:a16="http://schemas.microsoft.com/office/drawing/2014/main" id="{8E3E0E4C-B4F9-005C-E8EC-B2F8ADE682B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3"/>
          <a:srcRect l="69703" b="47022"/>
          <a:stretch/>
        </p:blipFill>
        <p:spPr>
          <a:xfrm>
            <a:off x="0" y="896938"/>
            <a:ext cx="5257800" cy="5780087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9C34BA-8889-5D88-21A7-55035ADBEF77}"/>
              </a:ext>
            </a:extLst>
          </p:cNvPr>
          <p:cNvSpPr txBox="1"/>
          <p:nvPr/>
        </p:nvSpPr>
        <p:spPr>
          <a:xfrm>
            <a:off x="9306210" y="6492875"/>
            <a:ext cx="288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Preprint </a:t>
            </a:r>
            <a:r>
              <a:rPr lang="en-US" dirty="0" err="1"/>
              <a:t>Ginnan</a:t>
            </a:r>
            <a:r>
              <a:rPr lang="en-US" dirty="0"/>
              <a:t> et al., 2024</a:t>
            </a:r>
          </a:p>
        </p:txBody>
      </p:sp>
      <p:pic>
        <p:nvPicPr>
          <p:cNvPr id="7" name="Content Placeholder 5" descr="A diagram of different types of cells&#10;&#10;AI-generated content may be incorrect.">
            <a:extLst>
              <a:ext uri="{FF2B5EF4-FFF2-40B4-BE49-F238E27FC236}">
                <a16:creationId xmlns:a16="http://schemas.microsoft.com/office/drawing/2014/main" id="{F6498D3A-2075-561A-E940-5F09463BD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371" t="52374" r="-6814" b="-1208"/>
          <a:stretch/>
        </p:blipFill>
        <p:spPr>
          <a:xfrm>
            <a:off x="5867400" y="993776"/>
            <a:ext cx="6324600" cy="532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2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C85C8-89A6-9425-8DEF-F406A139CF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43844" y="0"/>
            <a:ext cx="10515600" cy="1325563"/>
          </a:xfrm>
        </p:spPr>
        <p:txBody>
          <a:bodyPr/>
          <a:lstStyle/>
          <a:p>
            <a:r>
              <a:rPr lang="en-US" dirty="0"/>
              <a:t>Succession Effects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7B42F2-BD09-3DBC-DC55-CF0A047ABDA5}"/>
              </a:ext>
            </a:extLst>
          </p:cNvPr>
          <p:cNvSpPr txBox="1"/>
          <p:nvPr/>
        </p:nvSpPr>
        <p:spPr>
          <a:xfrm>
            <a:off x="9686441" y="6369803"/>
            <a:ext cx="207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Morella et al., 2020</a:t>
            </a:r>
          </a:p>
        </p:txBody>
      </p:sp>
      <p:pic>
        <p:nvPicPr>
          <p:cNvPr id="8" name="Picture 7" descr="A diagram of a plant growing process&#10;&#10;AI-generated content may be incorrect.">
            <a:extLst>
              <a:ext uri="{FF2B5EF4-FFF2-40B4-BE49-F238E27FC236}">
                <a16:creationId xmlns:a16="http://schemas.microsoft.com/office/drawing/2014/main" id="{4B6558F1-4529-6BC3-65CE-C79DC0DAF8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627" b="47435"/>
          <a:stretch/>
        </p:blipFill>
        <p:spPr>
          <a:xfrm>
            <a:off x="3401826" y="1066864"/>
            <a:ext cx="5388348" cy="47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50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1342C-6B88-3F70-FDDF-F7319364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8DCC4-0211-C134-D058-11CC3888ADD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243844" y="0"/>
            <a:ext cx="10515600" cy="1325563"/>
          </a:xfrm>
        </p:spPr>
        <p:txBody>
          <a:bodyPr/>
          <a:lstStyle/>
          <a:p>
            <a:r>
              <a:rPr lang="en-US" dirty="0"/>
              <a:t>Succession Effects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B0147-CC58-7DA1-1B6C-15ABF0423246}"/>
              </a:ext>
            </a:extLst>
          </p:cNvPr>
          <p:cNvSpPr txBox="1"/>
          <p:nvPr/>
        </p:nvSpPr>
        <p:spPr>
          <a:xfrm>
            <a:off x="9686441" y="6369803"/>
            <a:ext cx="2076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Morella et al., 2020</a:t>
            </a:r>
          </a:p>
        </p:txBody>
      </p:sp>
      <p:pic>
        <p:nvPicPr>
          <p:cNvPr id="8" name="Picture 7" descr="A diagram of a plant growing process&#10;&#10;AI-generated content may be incorrect.">
            <a:extLst>
              <a:ext uri="{FF2B5EF4-FFF2-40B4-BE49-F238E27FC236}">
                <a16:creationId xmlns:a16="http://schemas.microsoft.com/office/drawing/2014/main" id="{CC788A3B-463B-10E1-52DE-F8D9C491491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627" b="47435"/>
          <a:stretch/>
        </p:blipFill>
        <p:spPr>
          <a:xfrm>
            <a:off x="3096746" y="2427109"/>
            <a:ext cx="3404898" cy="2985269"/>
          </a:xfrm>
          <a:prstGeom prst="rect">
            <a:avLst/>
          </a:prstGeom>
        </p:spPr>
      </p:pic>
      <p:pic>
        <p:nvPicPr>
          <p:cNvPr id="10" name="Picture 9" descr="A collage of diagrams and graphs&#10;&#10;AI-generated content may be incorrect.">
            <a:extLst>
              <a:ext uri="{FF2B5EF4-FFF2-40B4-BE49-F238E27FC236}">
                <a16:creationId xmlns:a16="http://schemas.microsoft.com/office/drawing/2014/main" id="{83650CDE-F7B0-BFAE-270B-2AB479373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1449"/>
          <a:stretch/>
        </p:blipFill>
        <p:spPr>
          <a:xfrm>
            <a:off x="795913" y="1513094"/>
            <a:ext cx="10963531" cy="383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37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82AC-8A71-9DA4-8F57-49994DD2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Objective: Test whether drought-adapted plant-associated microbes are dominant through a rotation sequence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3D36-5105-C06B-2E17-82761C8E8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0293"/>
            <a:ext cx="10515600" cy="4116669"/>
          </a:xfrm>
        </p:spPr>
        <p:txBody>
          <a:bodyPr>
            <a:normAutofit/>
          </a:bodyPr>
          <a:lstStyle/>
          <a:p>
            <a:r>
              <a:rPr lang="en-US" sz="3300" dirty="0"/>
              <a:t>Crop Rotation Sequence:</a:t>
            </a:r>
          </a:p>
          <a:p>
            <a:pPr lvl="1"/>
            <a:r>
              <a:rPr lang="en-US" sz="2800" dirty="0"/>
              <a:t>Wheat &gt; Cereal Rye &gt; Wheat</a:t>
            </a:r>
          </a:p>
          <a:p>
            <a:r>
              <a:rPr lang="en-US" sz="3300" dirty="0"/>
              <a:t>Soil legacy differences</a:t>
            </a:r>
          </a:p>
          <a:p>
            <a:pPr lvl="1"/>
            <a:r>
              <a:rPr lang="en-US" sz="2800" dirty="0"/>
              <a:t>Soil A – “Drought-adapted” with a history of severe drought stress</a:t>
            </a:r>
          </a:p>
          <a:p>
            <a:pPr lvl="1"/>
            <a:r>
              <a:rPr lang="en-US" sz="2800" dirty="0"/>
              <a:t>Soil B – “Drought-naive” with a minimal/no drought history</a:t>
            </a:r>
          </a:p>
          <a:p>
            <a:r>
              <a:rPr lang="en-US" sz="3300" dirty="0"/>
              <a:t>Drought would be applied in each cycle</a:t>
            </a:r>
          </a:p>
          <a:p>
            <a:r>
              <a:rPr lang="en-US" sz="3300" dirty="0"/>
              <a:t>Harvest would occur at the end of each cycle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9285790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E09CD-5FA4-A217-3226-9BD74698D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B6A5AE8-87DF-852C-C60F-B37F6BC9BAE1}"/>
              </a:ext>
            </a:extLst>
          </p:cNvPr>
          <p:cNvCxnSpPr>
            <a:cxnSpLocks/>
            <a:stCxn id="121" idx="2"/>
            <a:endCxn id="146" idx="0"/>
          </p:cNvCxnSpPr>
          <p:nvPr/>
        </p:nvCxnSpPr>
        <p:spPr>
          <a:xfrm flipH="1">
            <a:off x="4368406" y="3554021"/>
            <a:ext cx="176" cy="12151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5E1AB8C2-E6C8-41D6-70D7-2A7AC8FF1519}"/>
              </a:ext>
            </a:extLst>
          </p:cNvPr>
          <p:cNvCxnSpPr>
            <a:cxnSpLocks/>
            <a:stCxn id="122" idx="2"/>
            <a:endCxn id="147" idx="0"/>
          </p:cNvCxnSpPr>
          <p:nvPr/>
        </p:nvCxnSpPr>
        <p:spPr>
          <a:xfrm flipH="1">
            <a:off x="5282519" y="3551881"/>
            <a:ext cx="6905" cy="1220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303066B-9D48-A953-E0B3-49B9A6F6B2A9}"/>
              </a:ext>
            </a:extLst>
          </p:cNvPr>
          <p:cNvCxnSpPr>
            <a:stCxn id="51" idx="2"/>
            <a:endCxn id="121" idx="0"/>
          </p:cNvCxnSpPr>
          <p:nvPr/>
        </p:nvCxnSpPr>
        <p:spPr>
          <a:xfrm flipH="1">
            <a:off x="4368582" y="1244838"/>
            <a:ext cx="12320" cy="132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C04E2EBC-48D9-DAAC-8C0F-E5CDB64EB306}"/>
              </a:ext>
            </a:extLst>
          </p:cNvPr>
          <p:cNvCxnSpPr>
            <a:cxnSpLocks/>
            <a:stCxn id="115" idx="2"/>
            <a:endCxn id="122" idx="0"/>
          </p:cNvCxnSpPr>
          <p:nvPr/>
        </p:nvCxnSpPr>
        <p:spPr>
          <a:xfrm flipH="1">
            <a:off x="5289424" y="1244838"/>
            <a:ext cx="22775" cy="13272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49A79335-6FC0-2845-8F2A-F77895C9277C}"/>
              </a:ext>
            </a:extLst>
          </p:cNvPr>
          <p:cNvCxnSpPr>
            <a:cxnSpLocks/>
            <a:stCxn id="49" idx="2"/>
            <a:endCxn id="2" idx="0"/>
          </p:cNvCxnSpPr>
          <p:nvPr/>
        </p:nvCxnSpPr>
        <p:spPr>
          <a:xfrm>
            <a:off x="8380633" y="3529993"/>
            <a:ext cx="17105" cy="12423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7A3344A-7830-E3A2-2662-08966C7C183D}"/>
              </a:ext>
            </a:extLst>
          </p:cNvPr>
          <p:cNvCxnSpPr>
            <a:cxnSpLocks/>
            <a:stCxn id="50" idx="2"/>
            <a:endCxn id="3" idx="0"/>
          </p:cNvCxnSpPr>
          <p:nvPr/>
        </p:nvCxnSpPr>
        <p:spPr>
          <a:xfrm>
            <a:off x="9351813" y="3516985"/>
            <a:ext cx="21060" cy="1256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B4B556A5-2F00-4B23-D2DC-32EA05682810}"/>
              </a:ext>
            </a:extLst>
          </p:cNvPr>
          <p:cNvSpPr/>
          <p:nvPr/>
        </p:nvSpPr>
        <p:spPr>
          <a:xfrm>
            <a:off x="2074281" y="497799"/>
            <a:ext cx="914400" cy="749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</a:t>
            </a:r>
          </a:p>
          <a:p>
            <a:pPr algn="ctr"/>
            <a:r>
              <a:rPr lang="en-US" sz="1463" dirty="0"/>
              <a:t> Soil 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16A429-81C1-2D35-BDB7-BC4E61E4731E}"/>
              </a:ext>
            </a:extLst>
          </p:cNvPr>
          <p:cNvSpPr/>
          <p:nvPr/>
        </p:nvSpPr>
        <p:spPr>
          <a:xfrm>
            <a:off x="3002861" y="497799"/>
            <a:ext cx="914400" cy="749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</a:t>
            </a:r>
          </a:p>
          <a:p>
            <a:pPr algn="ctr"/>
            <a:r>
              <a:rPr lang="en-US" sz="1463" dirty="0"/>
              <a:t>Soil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F5CE9-7EA8-0B63-3E28-69D2D636A304}"/>
              </a:ext>
            </a:extLst>
          </p:cNvPr>
          <p:cNvSpPr txBox="1"/>
          <p:nvPr/>
        </p:nvSpPr>
        <p:spPr>
          <a:xfrm>
            <a:off x="210649" y="30046"/>
            <a:ext cx="244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Cycle 1: </a:t>
            </a:r>
          </a:p>
          <a:p>
            <a:r>
              <a:rPr lang="en-US" sz="1200" dirty="0"/>
              <a:t>Wheat </a:t>
            </a:r>
          </a:p>
          <a:p>
            <a:r>
              <a:rPr lang="en-US" sz="1200" dirty="0"/>
              <a:t>Initial Soil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3D527F-A648-A85D-15FE-327DBB27EE0F}"/>
              </a:ext>
            </a:extLst>
          </p:cNvPr>
          <p:cNvSpPr/>
          <p:nvPr/>
        </p:nvSpPr>
        <p:spPr>
          <a:xfrm>
            <a:off x="7935368" y="497799"/>
            <a:ext cx="914400" cy="749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</a:t>
            </a:r>
          </a:p>
          <a:p>
            <a:pPr algn="ctr"/>
            <a:r>
              <a:rPr lang="en-US" sz="1463" dirty="0"/>
              <a:t>Soil 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97C894-8BF7-0F98-0018-04E7DE2A7EDF}"/>
              </a:ext>
            </a:extLst>
          </p:cNvPr>
          <p:cNvSpPr/>
          <p:nvPr/>
        </p:nvSpPr>
        <p:spPr>
          <a:xfrm>
            <a:off x="8880638" y="497799"/>
            <a:ext cx="914400" cy="7498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</a:t>
            </a:r>
          </a:p>
          <a:p>
            <a:pPr algn="ctr"/>
            <a:r>
              <a:rPr lang="en-US" sz="1463" dirty="0"/>
              <a:t>Soil 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9B4A4-BCC2-8EFE-9E44-86A5F9E11E52}"/>
              </a:ext>
            </a:extLst>
          </p:cNvPr>
          <p:cNvSpPr/>
          <p:nvPr/>
        </p:nvSpPr>
        <p:spPr>
          <a:xfrm>
            <a:off x="2043601" y="2572058"/>
            <a:ext cx="931281" cy="9762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  <a:p>
            <a:pPr algn="ctr"/>
            <a:r>
              <a:rPr lang="en-US" sz="1200" dirty="0"/>
              <a:t>Cereal rye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Previous</a:t>
            </a:r>
          </a:p>
          <a:p>
            <a:pPr algn="ctr"/>
            <a:r>
              <a:rPr lang="en-US" sz="1200" dirty="0"/>
              <a:t> Soil A</a:t>
            </a:r>
          </a:p>
          <a:p>
            <a:pPr algn="ctr"/>
            <a:endParaRPr lang="en-US" sz="1463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98B9A3-2767-B9D9-A39B-02730C52721B}"/>
              </a:ext>
            </a:extLst>
          </p:cNvPr>
          <p:cNvSpPr/>
          <p:nvPr/>
        </p:nvSpPr>
        <p:spPr>
          <a:xfrm>
            <a:off x="2990686" y="2572059"/>
            <a:ext cx="927569" cy="976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Cereal rye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Previous </a:t>
            </a:r>
          </a:p>
          <a:p>
            <a:pPr algn="ctr"/>
            <a:r>
              <a:rPr lang="en-US" sz="1200" dirty="0"/>
              <a:t>Soil B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32F630-1509-2206-AB5B-6CABE575DFE4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2509241" y="1247608"/>
            <a:ext cx="22240" cy="132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87C15C0-E3D8-CBEE-0B2D-926D594BA263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flipH="1">
            <a:off x="3454471" y="1247608"/>
            <a:ext cx="5591" cy="132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158671-FE24-7E13-BAAC-9FE5A2F4DAE9}"/>
              </a:ext>
            </a:extLst>
          </p:cNvPr>
          <p:cNvCxnSpPr>
            <a:cxnSpLocks/>
            <a:stCxn id="9" idx="2"/>
            <a:endCxn id="49" idx="0"/>
          </p:cNvCxnSpPr>
          <p:nvPr/>
        </p:nvCxnSpPr>
        <p:spPr>
          <a:xfrm flipH="1">
            <a:off x="8380632" y="1247607"/>
            <a:ext cx="11936" cy="13361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81C1EEB-3AC2-3593-B466-729E0FD2B956}"/>
              </a:ext>
            </a:extLst>
          </p:cNvPr>
          <p:cNvCxnSpPr>
            <a:cxnSpLocks/>
            <a:stCxn id="10" idx="2"/>
            <a:endCxn id="50" idx="0"/>
          </p:cNvCxnSpPr>
          <p:nvPr/>
        </p:nvCxnSpPr>
        <p:spPr>
          <a:xfrm>
            <a:off x="9337839" y="1247607"/>
            <a:ext cx="13975" cy="13230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BFBE2D-1D38-49E4-0496-B95D655CE3A5}"/>
              </a:ext>
            </a:extLst>
          </p:cNvPr>
          <p:cNvCxnSpPr>
            <a:cxnSpLocks/>
          </p:cNvCxnSpPr>
          <p:nvPr/>
        </p:nvCxnSpPr>
        <p:spPr>
          <a:xfrm flipV="1">
            <a:off x="1994027" y="1435083"/>
            <a:ext cx="5554751" cy="138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A4F7C9-435F-B614-0A76-115F3B87E617}"/>
              </a:ext>
            </a:extLst>
          </p:cNvPr>
          <p:cNvSpPr txBox="1"/>
          <p:nvPr/>
        </p:nvSpPr>
        <p:spPr>
          <a:xfrm>
            <a:off x="4321149" y="1216083"/>
            <a:ext cx="1132040" cy="442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38" dirty="0"/>
              <a:t>Drought stress </a:t>
            </a:r>
          </a:p>
          <a:p>
            <a:pPr algn="ctr"/>
            <a:r>
              <a:rPr lang="en-US" sz="1138" dirty="0"/>
              <a:t>Applied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B255335-B92E-FB8B-6E6F-C594D74061DA}"/>
              </a:ext>
            </a:extLst>
          </p:cNvPr>
          <p:cNvSpPr/>
          <p:nvPr/>
        </p:nvSpPr>
        <p:spPr>
          <a:xfrm>
            <a:off x="1864761" y="1789215"/>
            <a:ext cx="8731123" cy="3937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Harvest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23F7FEE0-984B-7823-A3D7-04CA37A85768}"/>
              </a:ext>
            </a:extLst>
          </p:cNvPr>
          <p:cNvSpPr/>
          <p:nvPr/>
        </p:nvSpPr>
        <p:spPr>
          <a:xfrm>
            <a:off x="7679869" y="93497"/>
            <a:ext cx="2401538" cy="39372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No Drought Treatment Control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9319D9-C2A2-2D3C-2059-38B733FD5C09}"/>
              </a:ext>
            </a:extLst>
          </p:cNvPr>
          <p:cNvSpPr txBox="1"/>
          <p:nvPr/>
        </p:nvSpPr>
        <p:spPr>
          <a:xfrm>
            <a:off x="210649" y="2701594"/>
            <a:ext cx="9312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Cycle 2: </a:t>
            </a:r>
          </a:p>
          <a:p>
            <a:r>
              <a:rPr lang="en-US" sz="1200" dirty="0"/>
              <a:t>Cereal Rye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D4B0DB9-08AC-C6EC-ABE5-1E5F43713532}"/>
              </a:ext>
            </a:extLst>
          </p:cNvPr>
          <p:cNvSpPr/>
          <p:nvPr/>
        </p:nvSpPr>
        <p:spPr>
          <a:xfrm>
            <a:off x="7906470" y="2583710"/>
            <a:ext cx="948325" cy="94628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100" dirty="0"/>
          </a:p>
          <a:p>
            <a:pPr algn="ctr"/>
            <a:r>
              <a:rPr lang="en-US" sz="1400" dirty="0"/>
              <a:t>Cereal rye</a:t>
            </a:r>
          </a:p>
          <a:p>
            <a:pPr algn="ctr"/>
            <a:r>
              <a:rPr lang="en-US" sz="1400" dirty="0"/>
              <a:t> previous </a:t>
            </a:r>
          </a:p>
          <a:p>
            <a:pPr algn="ctr"/>
            <a:r>
              <a:rPr lang="en-US" sz="1400" dirty="0"/>
              <a:t>Soil A</a:t>
            </a:r>
          </a:p>
          <a:p>
            <a:pPr algn="ctr"/>
            <a:endParaRPr lang="en-US" sz="1463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42234D-F860-57A4-F710-60784898E5BA}"/>
              </a:ext>
            </a:extLst>
          </p:cNvPr>
          <p:cNvSpPr/>
          <p:nvPr/>
        </p:nvSpPr>
        <p:spPr>
          <a:xfrm>
            <a:off x="8877651" y="2570703"/>
            <a:ext cx="948324" cy="9462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Cereal rye </a:t>
            </a:r>
          </a:p>
          <a:p>
            <a:pPr algn="ctr"/>
            <a:r>
              <a:rPr lang="en-US" sz="1400" dirty="0"/>
              <a:t>previous </a:t>
            </a:r>
          </a:p>
          <a:p>
            <a:pPr algn="ctr"/>
            <a:r>
              <a:rPr lang="en-US" sz="1400" dirty="0"/>
              <a:t>Soil B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DC9813DA-CA6A-E113-0C60-132288DC79A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>
            <a:off x="2509241" y="3548327"/>
            <a:ext cx="22490" cy="1215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4FFC33D-6403-ECA9-CB67-635866EA0838}"/>
              </a:ext>
            </a:extLst>
          </p:cNvPr>
          <p:cNvCxnSpPr>
            <a:cxnSpLocks/>
            <a:stCxn id="13" idx="2"/>
            <a:endCxn id="35" idx="0"/>
          </p:cNvCxnSpPr>
          <p:nvPr/>
        </p:nvCxnSpPr>
        <p:spPr>
          <a:xfrm>
            <a:off x="3454470" y="3548325"/>
            <a:ext cx="3796" cy="12158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EA1E5CA-4052-E495-5611-0D26FD369AAB}"/>
              </a:ext>
            </a:extLst>
          </p:cNvPr>
          <p:cNvCxnSpPr>
            <a:cxnSpLocks/>
          </p:cNvCxnSpPr>
          <p:nvPr/>
        </p:nvCxnSpPr>
        <p:spPr>
          <a:xfrm flipV="1">
            <a:off x="2129571" y="3811971"/>
            <a:ext cx="3616908" cy="1990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043FAD8D-0954-9839-A3C2-283138D997C3}"/>
              </a:ext>
            </a:extLst>
          </p:cNvPr>
          <p:cNvSpPr/>
          <p:nvPr/>
        </p:nvSpPr>
        <p:spPr>
          <a:xfrm>
            <a:off x="1907779" y="4082701"/>
            <a:ext cx="8688105" cy="3937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Harvest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69E307-676A-CD07-65BC-B47A1885F73C}"/>
              </a:ext>
            </a:extLst>
          </p:cNvPr>
          <p:cNvSpPr txBox="1"/>
          <p:nvPr/>
        </p:nvSpPr>
        <p:spPr>
          <a:xfrm>
            <a:off x="3352234" y="3594543"/>
            <a:ext cx="1132041" cy="442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38" dirty="0"/>
              <a:t>Drought stress </a:t>
            </a:r>
          </a:p>
          <a:p>
            <a:pPr algn="ctr"/>
            <a:r>
              <a:rPr lang="en-US" sz="1138" dirty="0"/>
              <a:t>Applied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1454D7-F1F9-EA39-798C-777E31DDFB03}"/>
              </a:ext>
            </a:extLst>
          </p:cNvPr>
          <p:cNvSpPr txBox="1"/>
          <p:nvPr/>
        </p:nvSpPr>
        <p:spPr>
          <a:xfrm>
            <a:off x="338667" y="5003810"/>
            <a:ext cx="15656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Cycle 3: </a:t>
            </a:r>
          </a:p>
          <a:p>
            <a:r>
              <a:rPr lang="en-US" sz="1200" dirty="0"/>
              <a:t>Return to wheat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084263-F523-E0F5-F7D7-EEC853714C3F}"/>
              </a:ext>
            </a:extLst>
          </p:cNvPr>
          <p:cNvSpPr/>
          <p:nvPr/>
        </p:nvSpPr>
        <p:spPr>
          <a:xfrm>
            <a:off x="2060601" y="4764177"/>
            <a:ext cx="942261" cy="946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Wheat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Previous</a:t>
            </a:r>
          </a:p>
          <a:p>
            <a:pPr algn="ctr"/>
            <a:r>
              <a:rPr lang="en-US" sz="1200" dirty="0"/>
              <a:t>Soil 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838B1B-A5F6-4769-6E15-0430EBB2AE56}"/>
              </a:ext>
            </a:extLst>
          </p:cNvPr>
          <p:cNvSpPr/>
          <p:nvPr/>
        </p:nvSpPr>
        <p:spPr>
          <a:xfrm>
            <a:off x="3019933" y="4764177"/>
            <a:ext cx="876667" cy="9462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Wheat 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Previous </a:t>
            </a:r>
          </a:p>
          <a:p>
            <a:pPr algn="ctr"/>
            <a:r>
              <a:rPr lang="en-US" sz="1200" dirty="0"/>
              <a:t>Soil 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F506AC1-0E10-8E2E-3499-56C782C53CD1}"/>
              </a:ext>
            </a:extLst>
          </p:cNvPr>
          <p:cNvSpPr/>
          <p:nvPr/>
        </p:nvSpPr>
        <p:spPr>
          <a:xfrm>
            <a:off x="7923576" y="4772335"/>
            <a:ext cx="948322" cy="995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 previous </a:t>
            </a:r>
          </a:p>
          <a:p>
            <a:pPr algn="ctr"/>
            <a:r>
              <a:rPr lang="en-US" sz="1463" dirty="0"/>
              <a:t>Soil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8D6DA4-8575-0946-597B-51E499B99ACC}"/>
              </a:ext>
            </a:extLst>
          </p:cNvPr>
          <p:cNvSpPr/>
          <p:nvPr/>
        </p:nvSpPr>
        <p:spPr>
          <a:xfrm>
            <a:off x="8919771" y="4773735"/>
            <a:ext cx="906205" cy="995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63" dirty="0"/>
              <a:t>Wheat previous </a:t>
            </a:r>
          </a:p>
          <a:p>
            <a:pPr algn="ctr"/>
            <a:r>
              <a:rPr lang="en-US" sz="1463" dirty="0"/>
              <a:t>Soil B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4EBF6E3-ADB8-123E-F0D2-3A3BD3F02D4A}"/>
              </a:ext>
            </a:extLst>
          </p:cNvPr>
          <p:cNvSpPr/>
          <p:nvPr/>
        </p:nvSpPr>
        <p:spPr>
          <a:xfrm>
            <a:off x="5773123" y="494395"/>
            <a:ext cx="91440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(Control)</a:t>
            </a:r>
          </a:p>
          <a:p>
            <a:pPr algn="ctr"/>
            <a:r>
              <a:rPr lang="en-US" sz="1100" dirty="0"/>
              <a:t>Cereal rye </a:t>
            </a:r>
          </a:p>
          <a:p>
            <a:pPr algn="ctr"/>
            <a:r>
              <a:rPr lang="en-US" sz="1100" dirty="0"/>
              <a:t>Soil A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CD7206C2-1A35-DE2B-E42D-B12C4CA3D89A}"/>
              </a:ext>
            </a:extLst>
          </p:cNvPr>
          <p:cNvSpPr/>
          <p:nvPr/>
        </p:nvSpPr>
        <p:spPr>
          <a:xfrm>
            <a:off x="6622730" y="494396"/>
            <a:ext cx="91440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(Control)</a:t>
            </a:r>
          </a:p>
          <a:p>
            <a:pPr algn="ctr"/>
            <a:r>
              <a:rPr lang="en-US" sz="1100" dirty="0"/>
              <a:t>Cereal rye</a:t>
            </a:r>
          </a:p>
          <a:p>
            <a:pPr algn="ctr"/>
            <a:r>
              <a:rPr lang="en-US" sz="1100" dirty="0"/>
              <a:t>Soil B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A0D3FEA3-F897-D169-54C8-15A8C8C5E85F}"/>
              </a:ext>
            </a:extLst>
          </p:cNvPr>
          <p:cNvSpPr/>
          <p:nvPr/>
        </p:nvSpPr>
        <p:spPr>
          <a:xfrm>
            <a:off x="2654391" y="92836"/>
            <a:ext cx="4498223" cy="39372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Drought Treatment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BA54A5F-ED6D-8F5D-7639-8C7B23CDF2E8}"/>
              </a:ext>
            </a:extLst>
          </p:cNvPr>
          <p:cNvSpPr/>
          <p:nvPr/>
        </p:nvSpPr>
        <p:spPr>
          <a:xfrm>
            <a:off x="1907777" y="6354093"/>
            <a:ext cx="8688102" cy="39372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Harvest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FA3CE58-4182-CC9D-975F-A0D3355D2D5B}"/>
              </a:ext>
            </a:extLst>
          </p:cNvPr>
          <p:cNvCxnSpPr>
            <a:cxnSpLocks/>
            <a:stCxn id="33" idx="2"/>
          </p:cNvCxnSpPr>
          <p:nvPr/>
        </p:nvCxnSpPr>
        <p:spPr>
          <a:xfrm>
            <a:off x="2531731" y="5710461"/>
            <a:ext cx="0" cy="676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38D7F8-EA54-4BC6-E7D2-9524FA4B145C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3458266" y="5710461"/>
            <a:ext cx="0" cy="6914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EB4B6DE-6DF1-D992-A670-2E6943F5D41D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4368406" y="5708322"/>
            <a:ext cx="0" cy="65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9BB8869-AE4C-3859-E0C3-ACD29762B43F}"/>
              </a:ext>
            </a:extLst>
          </p:cNvPr>
          <p:cNvCxnSpPr>
            <a:cxnSpLocks/>
          </p:cNvCxnSpPr>
          <p:nvPr/>
        </p:nvCxnSpPr>
        <p:spPr>
          <a:xfrm>
            <a:off x="2136546" y="5992856"/>
            <a:ext cx="3502254" cy="0"/>
          </a:xfrm>
          <a:prstGeom prst="line">
            <a:avLst/>
          </a:prstGeom>
          <a:ln w="57150">
            <a:solidFill>
              <a:srgbClr val="C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E0B43E57-051A-58EA-CFD9-AA9C07E45037}"/>
              </a:ext>
            </a:extLst>
          </p:cNvPr>
          <p:cNvSpPr txBox="1"/>
          <p:nvPr/>
        </p:nvSpPr>
        <p:spPr>
          <a:xfrm>
            <a:off x="3272231" y="5767424"/>
            <a:ext cx="1132041" cy="442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38" dirty="0"/>
              <a:t>Drought stress </a:t>
            </a:r>
          </a:p>
          <a:p>
            <a:pPr algn="ctr"/>
            <a:r>
              <a:rPr lang="en-US" sz="1138" dirty="0"/>
              <a:t>Applied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D3605FA-93DF-54CB-0284-A9F0E10FB8CB}"/>
              </a:ext>
            </a:extLst>
          </p:cNvPr>
          <p:cNvSpPr/>
          <p:nvPr/>
        </p:nvSpPr>
        <p:spPr>
          <a:xfrm>
            <a:off x="3923702" y="495030"/>
            <a:ext cx="91440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(Control)</a:t>
            </a:r>
          </a:p>
          <a:p>
            <a:pPr algn="ctr"/>
            <a:r>
              <a:rPr lang="en-US" sz="1100" dirty="0"/>
              <a:t>Wheat</a:t>
            </a:r>
          </a:p>
          <a:p>
            <a:pPr algn="ctr"/>
            <a:r>
              <a:rPr lang="en-US" sz="1100" dirty="0"/>
              <a:t> Soil A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F161A39B-DDD3-25A9-CC93-769DF2409E82}"/>
              </a:ext>
            </a:extLst>
          </p:cNvPr>
          <p:cNvSpPr/>
          <p:nvPr/>
        </p:nvSpPr>
        <p:spPr>
          <a:xfrm>
            <a:off x="4854998" y="495030"/>
            <a:ext cx="914400" cy="7498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(Control)</a:t>
            </a:r>
          </a:p>
          <a:p>
            <a:pPr algn="ctr"/>
            <a:r>
              <a:rPr lang="en-US" sz="1100" dirty="0"/>
              <a:t>Wheat</a:t>
            </a:r>
          </a:p>
          <a:p>
            <a:pPr algn="ctr"/>
            <a:r>
              <a:rPr lang="en-US" sz="1100" dirty="0"/>
              <a:t> Soil B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BBE0213A-2B6E-AAF1-8612-F3B7AC0406EE}"/>
              </a:ext>
            </a:extLst>
          </p:cNvPr>
          <p:cNvSpPr/>
          <p:nvPr/>
        </p:nvSpPr>
        <p:spPr>
          <a:xfrm>
            <a:off x="3911526" y="2572058"/>
            <a:ext cx="914112" cy="9819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(Control)</a:t>
            </a:r>
          </a:p>
          <a:p>
            <a:pPr algn="ctr"/>
            <a:r>
              <a:rPr lang="en-US" sz="1400" dirty="0"/>
              <a:t>Wheat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 Soil A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4AE3212B-1122-45FE-A218-B993D11093DC}"/>
              </a:ext>
            </a:extLst>
          </p:cNvPr>
          <p:cNvSpPr/>
          <p:nvPr/>
        </p:nvSpPr>
        <p:spPr>
          <a:xfrm>
            <a:off x="4832367" y="2572058"/>
            <a:ext cx="914112" cy="9798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(Control)</a:t>
            </a:r>
          </a:p>
          <a:p>
            <a:pPr algn="ctr"/>
            <a:r>
              <a:rPr lang="en-US" sz="1400" dirty="0"/>
              <a:t>Wheat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 Soil B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430590FA-DFE3-9105-C692-5152E1646B5C}"/>
              </a:ext>
            </a:extLst>
          </p:cNvPr>
          <p:cNvSpPr/>
          <p:nvPr/>
        </p:nvSpPr>
        <p:spPr>
          <a:xfrm>
            <a:off x="3911350" y="4769145"/>
            <a:ext cx="914112" cy="93917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(Control)</a:t>
            </a:r>
          </a:p>
          <a:p>
            <a:pPr algn="ctr"/>
            <a:r>
              <a:rPr lang="en-US" sz="1400" dirty="0"/>
              <a:t>Wheat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 Soil A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27D1AE75-D325-B9F8-2F04-CA13AB7A12E8}"/>
              </a:ext>
            </a:extLst>
          </p:cNvPr>
          <p:cNvSpPr/>
          <p:nvPr/>
        </p:nvSpPr>
        <p:spPr>
          <a:xfrm>
            <a:off x="4825462" y="4772335"/>
            <a:ext cx="914112" cy="9317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(Control)</a:t>
            </a:r>
          </a:p>
          <a:p>
            <a:pPr algn="ctr"/>
            <a:r>
              <a:rPr lang="en-US" sz="1400" dirty="0"/>
              <a:t>Wheat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 Soil B</a:t>
            </a:r>
          </a:p>
        </p:txBody>
      </p: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A306AFBD-9A42-28B8-A2F3-3EB5520431AB}"/>
              </a:ext>
            </a:extLst>
          </p:cNvPr>
          <p:cNvCxnSpPr>
            <a:cxnSpLocks/>
            <a:stCxn id="147" idx="2"/>
          </p:cNvCxnSpPr>
          <p:nvPr/>
        </p:nvCxnSpPr>
        <p:spPr>
          <a:xfrm>
            <a:off x="5282518" y="5704041"/>
            <a:ext cx="0" cy="6359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BF2B049-7C37-F911-F958-F7C5A9E42E2D}"/>
              </a:ext>
            </a:extLst>
          </p:cNvPr>
          <p:cNvCxnSpPr>
            <a:cxnSpLocks/>
            <a:stCxn id="82" idx="2"/>
            <a:endCxn id="34" idx="0"/>
          </p:cNvCxnSpPr>
          <p:nvPr/>
        </p:nvCxnSpPr>
        <p:spPr>
          <a:xfrm>
            <a:off x="6230323" y="1244203"/>
            <a:ext cx="0" cy="5450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D4A8285A-3675-5376-9485-CE6D25A93368}"/>
              </a:ext>
            </a:extLst>
          </p:cNvPr>
          <p:cNvCxnSpPr>
            <a:cxnSpLocks/>
            <a:stCxn id="83" idx="2"/>
          </p:cNvCxnSpPr>
          <p:nvPr/>
        </p:nvCxnSpPr>
        <p:spPr>
          <a:xfrm>
            <a:off x="7079930" y="1244205"/>
            <a:ext cx="13060" cy="5616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AE3BC52F-8F71-1037-38CD-534B5283DD5C}"/>
              </a:ext>
            </a:extLst>
          </p:cNvPr>
          <p:cNvCxnSpPr>
            <a:cxnSpLocks/>
          </p:cNvCxnSpPr>
          <p:nvPr/>
        </p:nvCxnSpPr>
        <p:spPr>
          <a:xfrm>
            <a:off x="8407587" y="5767423"/>
            <a:ext cx="0" cy="57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Arrow Connector 248">
            <a:extLst>
              <a:ext uri="{FF2B5EF4-FFF2-40B4-BE49-F238E27FC236}">
                <a16:creationId xmlns:a16="http://schemas.microsoft.com/office/drawing/2014/main" id="{DD950565-9C09-807B-53A4-4B1CC59A6DE0}"/>
              </a:ext>
            </a:extLst>
          </p:cNvPr>
          <p:cNvCxnSpPr>
            <a:cxnSpLocks/>
          </p:cNvCxnSpPr>
          <p:nvPr/>
        </p:nvCxnSpPr>
        <p:spPr>
          <a:xfrm>
            <a:off x="9363148" y="5767423"/>
            <a:ext cx="0" cy="572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63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B301F-4EC2-3337-229B-9A193EE44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effectLst/>
              </a:rPr>
              <a:t>Can the microbiome composition formed from a stress event mitigate future plant stress responses?</a:t>
            </a:r>
            <a:endParaRPr lang="en-US" sz="3600" dirty="0">
              <a:effectLst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48E17-03AA-C8D8-7996-052E355698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695" y="1978702"/>
            <a:ext cx="10889105" cy="4664074"/>
          </a:xfrm>
        </p:spPr>
        <p:txBody>
          <a:bodyPr>
            <a:normAutofit/>
          </a:bodyPr>
          <a:lstStyle/>
          <a:p>
            <a:r>
              <a:rPr lang="en-US" sz="3200" dirty="0"/>
              <a:t>Do future host stress benefits depend on the plant-soil system under selection?</a:t>
            </a:r>
          </a:p>
          <a:p>
            <a:r>
              <a:rPr lang="en-US" sz="3200" dirty="0"/>
              <a:t>Can soil history alter the effectiveness of the plant-soil system?</a:t>
            </a:r>
            <a:endParaRPr lang="en-US" sz="2800" dirty="0"/>
          </a:p>
          <a:p>
            <a:r>
              <a:rPr lang="en-US" sz="3200" dirty="0"/>
              <a:t>W</a:t>
            </a:r>
            <a:r>
              <a:rPr lang="en-US" sz="3200" dirty="0">
                <a:effectLst/>
              </a:rPr>
              <a:t>hat plant-associated microbes are dominant through multiple rounds of acute drought stress?</a:t>
            </a:r>
          </a:p>
          <a:p>
            <a:r>
              <a:rPr lang="en-US" sz="3200" dirty="0"/>
              <a:t>Are those plant-associated microbes beneficial to different host identities?</a:t>
            </a:r>
            <a:endParaRPr lang="en-US" sz="3200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565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0D76-988B-BC55-0C47-DF1695022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Do future host stress benefits depend on the plant-soil system under selection?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30FE1-E6F8-4271-E729-79168B51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The magnitude of stress resilience after drought stress will depend on host identity.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Proposed analysis:</a:t>
            </a:r>
          </a:p>
          <a:p>
            <a:pPr lvl="1"/>
            <a:r>
              <a:rPr lang="en-US" dirty="0"/>
              <a:t>Mixed-effect models</a:t>
            </a:r>
          </a:p>
        </p:txBody>
      </p:sp>
    </p:spTree>
    <p:extLst>
      <p:ext uri="{BB962C8B-B14F-4D97-AF65-F5344CB8AC3E}">
        <p14:creationId xmlns:p14="http://schemas.microsoft.com/office/powerpoint/2010/main" val="705461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974F8-5FA9-AD7E-846A-D27365AD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Can soil history alter the effectiveness of the plant-soil system?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D1061-A0BD-6091-A666-A2BBC4D7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Plants grown in drought-adapted soil will exhibit greater stress resilience through recurring drought events than plants in drought-naive soils.</a:t>
            </a:r>
          </a:p>
          <a:p>
            <a:endParaRPr lang="en-US" dirty="0"/>
          </a:p>
          <a:p>
            <a:r>
              <a:rPr lang="en-US" dirty="0"/>
              <a:t>Proposed analyses:</a:t>
            </a:r>
          </a:p>
          <a:p>
            <a:pPr lvl="1"/>
            <a:r>
              <a:rPr lang="en-US" dirty="0"/>
              <a:t>PERMANOVA</a:t>
            </a:r>
          </a:p>
          <a:p>
            <a:pPr lvl="1"/>
            <a:r>
              <a:rPr lang="en-US" dirty="0" err="1"/>
              <a:t>PCoA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279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33853-A5BD-3E74-E5D8-72DDF07C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W</a:t>
            </a:r>
            <a:r>
              <a:rPr lang="en-US" sz="4400" dirty="0">
                <a:effectLst/>
              </a:rPr>
              <a:t>hat plant-associated microbes are dominant through multiple rounds of acute drought stress?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7C14-39B7-F496-7FF3-9615B32A2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A group of drought-adapted microbes will dominate plant-associated microbiomes across multiple rounds of drought stress, independent of host identity.</a:t>
            </a:r>
          </a:p>
          <a:p>
            <a:endParaRPr lang="en-US" dirty="0"/>
          </a:p>
          <a:p>
            <a:r>
              <a:rPr lang="en-US" dirty="0"/>
              <a:t>Proposed analyses:</a:t>
            </a:r>
          </a:p>
          <a:p>
            <a:pPr lvl="1"/>
            <a:r>
              <a:rPr lang="en-US" dirty="0"/>
              <a:t>Rank-abundance curve</a:t>
            </a:r>
          </a:p>
          <a:p>
            <a:pPr lvl="1"/>
            <a:r>
              <a:rPr lang="en-US" dirty="0"/>
              <a:t>Differential Abundance</a:t>
            </a:r>
          </a:p>
        </p:txBody>
      </p:sp>
    </p:spTree>
    <p:extLst>
      <p:ext uri="{BB962C8B-B14F-4D97-AF65-F5344CB8AC3E}">
        <p14:creationId xmlns:p14="http://schemas.microsoft.com/office/powerpoint/2010/main" val="741821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3E1EB-EA6F-F40D-144B-32A73BF9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Are those plant-associated microbes beneficial to different host identities?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62AC4-D562-AF5E-5558-2154028E6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H1: The magnitude of benefit will depend on host-specific microbial interaction. However, drought-adapted microbes will continue to mitigate stress in both host species.</a:t>
            </a:r>
          </a:p>
          <a:p>
            <a:endParaRPr lang="en-US" dirty="0"/>
          </a:p>
          <a:p>
            <a:r>
              <a:rPr lang="en-US" dirty="0"/>
              <a:t>Proposed analyses:</a:t>
            </a:r>
          </a:p>
          <a:p>
            <a:pPr lvl="1"/>
            <a:r>
              <a:rPr lang="en-US" dirty="0"/>
              <a:t>ANOVA</a:t>
            </a:r>
          </a:p>
          <a:p>
            <a:pPr lvl="1"/>
            <a:r>
              <a:rPr lang="en-US" dirty="0"/>
              <a:t>Tukey’s HSD</a:t>
            </a:r>
          </a:p>
          <a:p>
            <a:pPr lvl="1"/>
            <a:r>
              <a:rPr lang="en-US" dirty="0"/>
              <a:t>Network analysis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43769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_theme_pp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efault_theme_ppt" id="{1EC12BDC-5E83-5643-A162-DD9B2D4700C4}" vid="{9126C9A4-B3F2-E340-ABD0-7194131E48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Default_theme_ppt</Template>
  <TotalTime>3692</TotalTime>
  <Words>1351</Words>
  <Application>Microsoft Macintosh PowerPoint</Application>
  <PresentationFormat>Widescreen</PresentationFormat>
  <Paragraphs>244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Default_theme_ppt</vt:lpstr>
      <vt:lpstr>Lab Meeting  Thursday, May 8, 2025</vt:lpstr>
      <vt:lpstr>Content</vt:lpstr>
      <vt:lpstr> Matrix-Interact Background</vt:lpstr>
      <vt:lpstr>How do bacterial &amp; fungal communities shift at different wheat phenological stages?</vt:lpstr>
      <vt:lpstr>Do changes in the wheat microbiome across compartments correlate with transitions between phenological stages?</vt:lpstr>
      <vt:lpstr>Can changes in microbiome compositions across developmental stages be modeled?</vt:lpstr>
      <vt:lpstr>Are specific microbes associated with different stages of plant growth?</vt:lpstr>
      <vt:lpstr>Are there stages in wheat growth correlated with shifts in its microbiome that can predict yield?</vt:lpstr>
      <vt:lpstr>Content</vt:lpstr>
      <vt:lpstr>Plants influence their microbiome under stress</vt:lpstr>
      <vt:lpstr>Soil Legacy Effects</vt:lpstr>
      <vt:lpstr>Succession Effects</vt:lpstr>
      <vt:lpstr>Succession Effects</vt:lpstr>
      <vt:lpstr>Objective: Test whether drought-adapted plant-associated microbes are dominant through a rotation sequence</vt:lpstr>
      <vt:lpstr>PowerPoint Presentation</vt:lpstr>
      <vt:lpstr>Can the microbiome composition formed from a stress event mitigate future plant stress responses?</vt:lpstr>
      <vt:lpstr>Do future host stress benefits depend on the plant-soil system under selection?</vt:lpstr>
      <vt:lpstr>Can soil history alter the effectiveness of the plant-soil system?</vt:lpstr>
      <vt:lpstr>What plant-associated microbes are dominant through multiple rounds of acute drought stress?</vt:lpstr>
      <vt:lpstr>Are those plant-associated microbes beneficial to different host identities?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Leslie Paillan</dc:creator>
  <cp:lastModifiedBy>Elizabeth Leslie Paillan</cp:lastModifiedBy>
  <cp:revision>1</cp:revision>
  <dcterms:created xsi:type="dcterms:W3CDTF">2025-05-05T12:53:43Z</dcterms:created>
  <dcterms:modified xsi:type="dcterms:W3CDTF">2025-05-12T12:40:15Z</dcterms:modified>
</cp:coreProperties>
</file>